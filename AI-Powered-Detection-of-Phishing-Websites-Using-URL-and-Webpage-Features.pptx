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ans 3 Black"/>
      <p:regular r:id="rId201317"/>
    </p:embeddedFont>
    <p:embeddedFont>
      <p:font typeface="Source Serif 4"/>
      <p:regular r:id="rId201318"/>
    </p:embeddedFont>
    <p:embeddedFont>
      <p:font typeface="Source Serif 4 SemiBold"/>
      <p:regular r:id="rId201319"/>
    </p:embeddedFont>
    <p:embeddedFont>
      <p:font typeface="Source Serif 4 Bold"/>
      <p:regular r:id="rId201320"/>
    </p:embeddedFont>
    <p:embeddedFont>
      <p:font typeface="Source Serif 4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jpeg"/><Relationship Id="rId4" Type="http://schemas.openxmlformats.org/officeDocument/2006/relationships/image" Target="../media/image-1002-2.png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560115"/>
            <a:ext cx="1125885" cy="58452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577" y="1348457"/>
            <a:ext cx="4667845" cy="1258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53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AI-Powered Detection of Phishing Websites Using URL and Webpage Features</a:t>
            </a: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523577" y="2810470"/>
            <a:ext cx="4667845" cy="668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 proposal and implementation plan: a resilient, explainable, incremental learning framework that detects visually deceptive and content-driven phishing attacks while providing per-decision explanations and operational dashboards.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23577" y="3682454"/>
            <a:ext cx="4667845" cy="251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Team Members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23577" y="4137868"/>
            <a:ext cx="466784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M. Aruna Grace - 2420030100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spc="-22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G. Manaswi - 2420030182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138089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802457"/>
            <a:ext cx="466784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sites evolve quickly and exploit visual deception (homographs, punycode, zero-width characters), domain perturbations (bit‑squatting, combo‑squatting), and content tricks to bypass static detectors and blacklists. Existing systems either stale out or lack explainability and real‑time adaptability.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3167658"/>
            <a:ext cx="4667845" cy="837679"/>
          </a:xfrm>
          <a:prstGeom prst="roundRect">
            <a:avLst>
              <a:gd name="adj" fmla="val 7501"/>
            </a:avLst>
          </a:prstGeom>
          <a:solidFill>
            <a:srgbClr val="F0D4F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50" y="3385617"/>
            <a:ext cx="187003" cy="1495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38724" y="3354586"/>
            <a:ext cx="40321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Goal: detect new and visually deceptive phishing attacks with explainable, adaptive ML.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3250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271736"/>
            <a:ext cx="2599209" cy="1824484"/>
          </a:xfrm>
          <a:prstGeom prst="roundRect">
            <a:avLst>
              <a:gd name="adj" fmla="val 344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2200" y="1440359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AI-Powered Detection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92200" y="1750070"/>
            <a:ext cx="22619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Develop a system for detecting phishing and legitimate websites by analyzing URL, HTML, and webpage text features.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72358" y="1271736"/>
            <a:ext cx="2599209" cy="1824484"/>
          </a:xfrm>
          <a:prstGeom prst="roundRect">
            <a:avLst>
              <a:gd name="adj" fmla="val 344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0981" y="1440359"/>
            <a:ext cx="22619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Enhanced Feature Engineering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40981" y="1970038"/>
            <a:ext cx="22619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Extract important URL, HTML, hyperlink, and text features. Introduce new features such as URL entropy and suspicious keyword score.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21139" y="1271736"/>
            <a:ext cx="2599283" cy="1824484"/>
          </a:xfrm>
          <a:prstGeom prst="roundRect">
            <a:avLst>
              <a:gd name="adj" fmla="val 3444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9762" y="1440359"/>
            <a:ext cx="226203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Optimized ML Model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9762" y="1750070"/>
            <a:ext cx="226203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Train and compare XGBoost, CatBoost, and LightGBM models. Apply feature selection and hyperparameter optimization.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577" y="3245793"/>
            <a:ext cx="3973637" cy="1365126"/>
          </a:xfrm>
          <a:prstGeom prst="roundRect">
            <a:avLst>
              <a:gd name="adj" fmla="val 460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2200" y="3414415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Text Analysis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2200" y="372412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Clean and preprocess webpage textual content. Use TF-IDF for identifying suspicious text patterns.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6786" y="3245793"/>
            <a:ext cx="3973637" cy="1365126"/>
          </a:xfrm>
          <a:prstGeom prst="roundRect">
            <a:avLst>
              <a:gd name="adj" fmla="val 4603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6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5408" y="3414415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Explainability &amp; Accuracy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15408" y="3724126"/>
            <a:ext cx="36363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 Provide prediction explanations using SHAP or LIME. Improve and compare accuracy with the existing research baseline.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2792"/>
            <a:ext cx="8096845" cy="307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3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Related Work: Comparative Analysis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523577" y="969764"/>
            <a:ext cx="8096845" cy="3740944"/>
          </a:xfrm>
          <a:prstGeom prst="roundRect">
            <a:avLst>
              <a:gd name="adj" fmla="val 147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280815"/>
            <a:ext cx="8096845" cy="818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2060525"/>
            <a:ext cx="8096845" cy="818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683222"/>
            <a:ext cx="8096845" cy="818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305919"/>
            <a:ext cx="8096845" cy="818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4085630"/>
            <a:ext cx="8096845" cy="818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37146" y="969764"/>
            <a:ext cx="8182" cy="37409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601566" y="969764"/>
            <a:ext cx="8182" cy="37409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80732" y="969764"/>
            <a:ext cx="8182" cy="37409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98196" y="969764"/>
            <a:ext cx="8182" cy="37409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9309" y="1047973"/>
            <a:ext cx="1001762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b="1" spc="-2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S.No.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70422" y="1047973"/>
            <a:ext cx="2455069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b="1" spc="-2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Research Paper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34842" y="1047973"/>
            <a:ext cx="1969815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b="1" spc="-2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Models Used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14008" y="1047973"/>
            <a:ext cx="1808113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b="1" spc="-2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1472" y="1047973"/>
            <a:ext cx="1810494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b="1" spc="-2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Main Drawbacks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9309" y="1356643"/>
            <a:ext cx="1001762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70422" y="1356643"/>
            <a:ext cx="1997869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Look Before You Leap: Detecting Phishing Web Pages by Exploiting Raw URL and HTML Characteristics (WebPhish)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34842" y="1356643"/>
            <a:ext cx="1969815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CNN-based deep learning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514008" y="1356643"/>
            <a:ext cx="1350913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learns phishing patterns from raw URL and HTML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131472" y="1356643"/>
            <a:ext cx="1353294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explainable AI; no WHOIS/SSL features; no ensemble learning; limited interpretability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9309" y="2136353"/>
            <a:ext cx="1001762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470422" y="2136353"/>
            <a:ext cx="1997869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Effective Detection Approach for Phishing Websites Using URL and HTML Features (Scientific Reports, Nature)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34842" y="2136353"/>
            <a:ext cx="1512615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XGBoost, Random Forest, Logistic Regression, Naïve Bayes, Decision Tree, ensemble methods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14008" y="2136353"/>
            <a:ext cx="1350913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Demonstrates combining URL and HTML features improves detection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1472" y="2136353"/>
            <a:ext cx="1353294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explainable AI; handcrafted features; no browser deployment; no online learning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9309" y="2759050"/>
            <a:ext cx="1001762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70422" y="2759050"/>
            <a:ext cx="1997869" cy="314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Sophisticated Framework for the Accurate Detection of Phishing Websites (2024)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34842" y="2759050"/>
            <a:ext cx="1512615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Stacking ensemble, feature selection, cross-validation, deep learning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14008" y="2759050"/>
            <a:ext cx="1350913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robust framework combining feature selection and multiple learning approaches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1472" y="2759050"/>
            <a:ext cx="1353294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explainability; no complete deployment; depends on feature engineering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9309" y="3381747"/>
            <a:ext cx="1001762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470422" y="3381747"/>
            <a:ext cx="1997869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PhiUSIIL: A Diverse Security Profile Empowered Phishing URL Detection Framework Based on Similarity Index and Incremental Learning (2024)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34842" y="3381747"/>
            <a:ext cx="1512615" cy="314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Incremental learning, URL similarity index (USI)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14008" y="3381747"/>
            <a:ext cx="1350913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Detects diverse phishing URL attacks using similarity analysis and incremental learning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1472" y="3381747"/>
            <a:ext cx="1353294" cy="628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Near-perfect accuracy makes improvement difficult; no explainable AI; no full web application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9309" y="4161458"/>
            <a:ext cx="1001762" cy="157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470422" y="4161458"/>
            <a:ext cx="1997869" cy="314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High-Accuracy Phishing Website Detection Method Based on Machine Learning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734842" y="4161458"/>
            <a:ext cx="1512615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Logistic Regression, KNN, Naïve Bayes, Random Forest, SVM, XGBoost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14008" y="4161458"/>
            <a:ext cx="1350913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Compares several ML algorithms and identifies high-performing models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131472" y="4161458"/>
            <a:ext cx="1353294" cy="47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spc="-2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explainability; mainly focuses on classification performance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2895"/>
            <a:ext cx="8096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spc="-46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Related Work: Additional Research (Continued)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23577" y="992460"/>
            <a:ext cx="8096845" cy="3728145"/>
          </a:xfrm>
          <a:prstGeom prst="roundRect">
            <a:avLst>
              <a:gd name="adj" fmla="val 139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277169"/>
            <a:ext cx="8096845" cy="77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1849413"/>
            <a:ext cx="8096845" cy="77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566615"/>
            <a:ext cx="8096845" cy="77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283818"/>
            <a:ext cx="8096845" cy="77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4001021"/>
            <a:ext cx="8096845" cy="774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37146" y="992460"/>
            <a:ext cx="7744" cy="37281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763342" y="992460"/>
            <a:ext cx="7744" cy="37281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42508" y="992460"/>
            <a:ext cx="7744" cy="37281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98196" y="992460"/>
            <a:ext cx="7744" cy="37281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2239" y="1063526"/>
            <a:ext cx="1015901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S.No.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63353" y="1063526"/>
            <a:ext cx="2630984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Research Paper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89549" y="1063526"/>
            <a:ext cx="1983953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Models Used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668714" y="1063526"/>
            <a:ext cx="1660475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124402" y="1063526"/>
            <a:ext cx="1824633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Main Drawbacks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52239" y="1345853"/>
            <a:ext cx="1015901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63353" y="1345853"/>
            <a:ext cx="2173784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Website Detection Based on Deep Convolutional Neural Network and Random Forest Ensemble Learning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89549" y="1345853"/>
            <a:ext cx="1983953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CNN, Random Forest Ensemble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668714" y="1345853"/>
            <a:ext cx="1203275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Combines deep learning and ensemble learning to improve phishing website classification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124402" y="1345853"/>
            <a:ext cx="1367433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Higher computational complexity; limited explainability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2239" y="1918097"/>
            <a:ext cx="1015901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63353" y="1918097"/>
            <a:ext cx="2173784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Phishing Attack Detection with Machine Learning: A Comprehensive Evaluation of Classifiers and Features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89549" y="1918097"/>
            <a:ext cx="1526753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KNN, SVM, Naïve Bayes, Decision Tree, MLP, SGD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668714" y="1918097"/>
            <a:ext cx="120327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Compares different classifiers and feature groups for phishing detection effectiveness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24402" y="1918097"/>
            <a:ext cx="1367433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dataset size; limited advanced explainability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2239" y="2635300"/>
            <a:ext cx="1015901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63353" y="2635300"/>
            <a:ext cx="2173784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GramBeddings: A New Neural Network for URL-Based Identification of Phishing Web Pages Through N-Gram Embeddings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889549" y="2635300"/>
            <a:ext cx="1526753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Neural Network, N-Gram Embeddings, Attention Mechanism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68714" y="2635300"/>
            <a:ext cx="120327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Learns URL patterns automatically using embeddings and neural networks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124402" y="2635300"/>
            <a:ext cx="1367433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Mainly URL-focused; lacks HTML/webpage content integration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2239" y="3352502"/>
            <a:ext cx="1015901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463353" y="3352502"/>
            <a:ext cx="2173784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Phishing URL Detection Generalisation Using Unsupervised Domain Adaptation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889549" y="3352502"/>
            <a:ext cx="1526753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Unsupervised Domain Adaptation, Machine Learning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68714" y="3352502"/>
            <a:ext cx="120327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understanding of phishing detection model performance across different datasets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124402" y="3352502"/>
            <a:ext cx="1367433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Focuses on URL generalization; limited webpage/HTML features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2239" y="4069705"/>
            <a:ext cx="1015901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463353" y="4069705"/>
            <a:ext cx="2173784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Machine Learning-Based Phishing Detection Approach Using URL and Website Features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89549" y="4069705"/>
            <a:ext cx="1526753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Forest, SVM, Decision Tree, Gradient Boosting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668714" y="4069705"/>
            <a:ext cx="120327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Shows URL and website characteristics can effectively classify phishing and legitimate websites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24402" y="4069705"/>
            <a:ext cx="1367433" cy="289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5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depends on feature selection; limited explainability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3628"/>
            <a:ext cx="8096845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Dataset Selection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23577" y="752029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D1 Phishing Webpage Dataset Overview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954411" y="1667396"/>
            <a:ext cx="1150069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45%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205" y="1083022"/>
            <a:ext cx="1402556" cy="14025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3577" y="2567360"/>
            <a:ext cx="4011885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Phishing Webpages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23577" y="2739851"/>
            <a:ext cx="4011885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27,280 instances providing ample data for training on malicious patterns.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039371" y="1667396"/>
            <a:ext cx="1150069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55%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65" y="1083022"/>
            <a:ext cx="1402556" cy="14025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8463" y="2567360"/>
            <a:ext cx="4011960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Benign Webpages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608463" y="2739851"/>
            <a:ext cx="401196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32,972 instances ensuring a balanced representation of legitimate sites.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523577" y="2927152"/>
            <a:ext cx="8554045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dataset comprises a total of 60,252 webpages, offering a comprehensive base for our analysis.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523577" y="3136404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Features Utilized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23577" y="3444032"/>
            <a:ext cx="4019178" cy="500062"/>
          </a:xfrm>
          <a:prstGeom prst="roundRect">
            <a:avLst>
              <a:gd name="adj" fmla="val 7854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D6BAD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6566" y="3547021"/>
            <a:ext cx="3813200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URL Features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26566" y="3719512"/>
            <a:ext cx="381320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of character sequences and structural components within the URL.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601170" y="3444032"/>
            <a:ext cx="4019252" cy="500062"/>
          </a:xfrm>
          <a:prstGeom prst="roundRect">
            <a:avLst>
              <a:gd name="adj" fmla="val 7854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D6BA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04159" y="3547021"/>
            <a:ext cx="3813274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Webpage Text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704159" y="3719512"/>
            <a:ext cx="381327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Utilizing TF-IDF for identifying suspicious keywords and textual patterns.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523577" y="4002509"/>
            <a:ext cx="4019178" cy="500062"/>
          </a:xfrm>
          <a:prstGeom prst="roundRect">
            <a:avLst>
              <a:gd name="adj" fmla="val 7854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D6BA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6566" y="4105498"/>
            <a:ext cx="3813200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Hyperlink Features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26566" y="4277990"/>
            <a:ext cx="3813200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Examining external and internal link structures for deceptive practices.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4601170" y="4002509"/>
            <a:ext cx="4019252" cy="500062"/>
          </a:xfrm>
          <a:prstGeom prst="roundRect">
            <a:avLst>
              <a:gd name="adj" fmla="val 7854"/>
            </a:avLst>
          </a:prstGeom>
          <a:solidFill>
            <a:srgbClr val="FFFFFF">
              <a:alpha val="95000"/>
            </a:srgbClr>
          </a:solidFill>
          <a:ln w="9525">
            <a:solidFill>
              <a:srgbClr val="D6BA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04159" y="4105498"/>
            <a:ext cx="3813274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spc="-1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Login Form Features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704159" y="4277990"/>
            <a:ext cx="3813274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Detecting characteristics often present in phishing login pages.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523577" y="4568279"/>
            <a:ext cx="8554045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42108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Research Gap &amp; Value Proposition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525464"/>
            <a:ext cx="4667845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gaps: (1) no robust explainability for analyst trust; (2) limited use of rendered webpage text/features; (3) lack of production-ready front-end/back-end integration. Our proposal closes these gaps by integrating SHAP/LIME, TF–IDF/text signals, UI + analytics, and incremental learners optimized for cost and stability.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1680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Enhancements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856036"/>
            <a:ext cx="8096845" cy="2170584"/>
          </a:xfrm>
          <a:prstGeom prst="roundRect">
            <a:avLst>
              <a:gd name="adj" fmla="val 289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2291581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2724745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3157910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591074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45804" y="1856036"/>
            <a:ext cx="9351" cy="2170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80732" y="1856036"/>
            <a:ext cx="9351" cy="2170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7912" y="1955304"/>
            <a:ext cx="177313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Feature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97757" y="1955304"/>
            <a:ext cx="338822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Existing System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532686" y="1955304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Proposed System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7912" y="2388468"/>
            <a:ext cx="177313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97757" y="2388468"/>
            <a:ext cx="338822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URL &amp; HTML analysis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532686" y="2388468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URL + HTML + Webpage Text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7912" y="2821632"/>
            <a:ext cx="177313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97757" y="2821632"/>
            <a:ext cx="338822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Basic features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532686" y="2821632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Entropy + Keywords + Brand Similarity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7912" y="3254797"/>
            <a:ext cx="177313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97757" y="3254797"/>
            <a:ext cx="338822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XGBoost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32686" y="3254797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Optimized ML + Ensemble Models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7912" y="3687961"/>
            <a:ext cx="177313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97757" y="3687961"/>
            <a:ext cx="338822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explanation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32686" y="3687961"/>
            <a:ext cx="339060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SHAP-based explanations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9953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13471"/>
            <a:ext cx="386595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3" kern="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Innovation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23577" y="2226990"/>
            <a:ext cx="3865959" cy="770483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Combine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URL, HTML, and webpage text analysis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stronger phishing detection.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Entropy, keyword, and brand similarity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features.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3577" y="3147045"/>
            <a:ext cx="386595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3" kern="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Novelty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23577" y="3560564"/>
            <a:ext cx="3865959" cy="531093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SHAP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explain each phishing prediction.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 the main factors behind every result.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9226" y="1813471"/>
            <a:ext cx="386595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3" kern="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Creativity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759226" y="2226990"/>
            <a:ext cx="3865959" cy="531093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 a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confidence score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each check.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Offer an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interactive dashboard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history and performance.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9226" y="2907655"/>
            <a:ext cx="3865959" cy="26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33" kern="0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Feasibility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759226" y="3321174"/>
            <a:ext cx="3865959" cy="531093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a simple interface for 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instant URL checks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Keep the workflow fast and easy to use.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540818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Clients &amp; Application Areas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2205186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585" y="2205186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Banks &amp; Financial Institutions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84585" y="2514898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fake banking and payment websites.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2205186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6472" y="2205186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E-commerce Companies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226472" y="2514898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fraudulent shopping and payment pages.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053507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4585" y="3053507"/>
            <a:ext cx="339387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Cybersecurity Organizations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84585" y="3363218"/>
            <a:ext cx="3393877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and detect phishing threats.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5464" y="3053507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26472" y="3053507"/>
            <a:ext cx="339395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Educational Institutions &amp; Students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26472" y="3363218"/>
            <a:ext cx="339395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awareness and protection against phishing.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430039"/>
            <a:ext cx="688404" cy="3574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893490"/>
            <a:ext cx="8096845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3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PLAN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523577" y="1365647"/>
            <a:ext cx="2501875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153" y="1381571"/>
            <a:ext cx="2569071" cy="28156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5198" y="1365647"/>
            <a:ext cx="2501875" cy="138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23577" y="4356348"/>
            <a:ext cx="8096845" cy="357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600"/>
              </a:spcAft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2026-08-18T15:27:48Z</dcterms:created>
  <dcterms:modified xsi:type="dcterms:W3CDTF">2026-08-18T15:27:48Z</dcterms:modified>
</cp:coreProperties>
</file>